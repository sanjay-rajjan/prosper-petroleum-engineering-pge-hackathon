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8" r:id="rId2"/>
  </p:sldMasterIdLst>
  <p:notesMasterIdLst>
    <p:notesMasterId r:id="rId15"/>
  </p:notesMasterIdLst>
  <p:sldIdLst>
    <p:sldId id="263" r:id="rId3"/>
    <p:sldId id="264" r:id="rId4"/>
    <p:sldId id="265" r:id="rId5"/>
    <p:sldId id="266" r:id="rId6"/>
    <p:sldId id="269" r:id="rId7"/>
    <p:sldId id="270" r:id="rId8"/>
    <p:sldId id="272" r:id="rId9"/>
    <p:sldId id="271" r:id="rId10"/>
    <p:sldId id="267" r:id="rId11"/>
    <p:sldId id="273" r:id="rId12"/>
    <p:sldId id="274" r:id="rId13"/>
    <p:sldId id="268" r:id="rId14"/>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Calibri" charset="0"/>
        <a:ea typeface="ＭＳ Ｐゴシック" charset="0"/>
        <a:cs typeface="ＭＳ Ｐゴシック"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sz="2400"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sz="2400"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sz="2400" kern="1200">
        <a:solidFill>
          <a:schemeClr val="tx1"/>
        </a:solidFill>
        <a:latin typeface="Calibri" charset="0"/>
        <a:ea typeface="ＭＳ Ｐゴシック" charset="0"/>
        <a:cs typeface="ＭＳ Ｐゴシック" charset="0"/>
      </a:defRPr>
    </a:lvl5pPr>
    <a:lvl6pPr marL="2286000" algn="l" defTabSz="457200" rtl="0" eaLnBrk="1" latinLnBrk="0" hangingPunct="1">
      <a:defRPr sz="2400" kern="1200">
        <a:solidFill>
          <a:schemeClr val="tx1"/>
        </a:solidFill>
        <a:latin typeface="Calibri" charset="0"/>
        <a:ea typeface="ＭＳ Ｐゴシック" charset="0"/>
        <a:cs typeface="ＭＳ Ｐゴシック" charset="0"/>
      </a:defRPr>
    </a:lvl6pPr>
    <a:lvl7pPr marL="2743200" algn="l" defTabSz="457200" rtl="0" eaLnBrk="1" latinLnBrk="0" hangingPunct="1">
      <a:defRPr sz="2400" kern="1200">
        <a:solidFill>
          <a:schemeClr val="tx1"/>
        </a:solidFill>
        <a:latin typeface="Calibri" charset="0"/>
        <a:ea typeface="ＭＳ Ｐゴシック" charset="0"/>
        <a:cs typeface="ＭＳ Ｐゴシック" charset="0"/>
      </a:defRPr>
    </a:lvl7pPr>
    <a:lvl8pPr marL="3200400" algn="l" defTabSz="457200" rtl="0" eaLnBrk="1" latinLnBrk="0" hangingPunct="1">
      <a:defRPr sz="2400" kern="1200">
        <a:solidFill>
          <a:schemeClr val="tx1"/>
        </a:solidFill>
        <a:latin typeface="Calibri" charset="0"/>
        <a:ea typeface="ＭＳ Ｐゴシック" charset="0"/>
        <a:cs typeface="ＭＳ Ｐゴシック" charset="0"/>
      </a:defRPr>
    </a:lvl8pPr>
    <a:lvl9pPr marL="3657600" algn="l" defTabSz="457200" rtl="0" eaLnBrk="1" latinLnBrk="0" hangingPunct="1">
      <a:defRPr sz="2400"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5700"/>
    <a:srgbClr val="C6531F"/>
    <a:srgbClr val="BF5727"/>
    <a:srgbClr val="B0430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088376-2855-FF0E-BA37-134B11B13A99}" v="1099" dt="2026-02-01T04:38:18.121"/>
    <p1510:client id="{9E7DC0FB-0A92-AA25-B8B9-E8BC2580CC36}" v="156" dt="2026-02-01T05:14:10.1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55A2F7-1CB2-9A4A-A317-46954273A428}" type="datetimeFigureOut">
              <a:rPr lang="en-US" smtClean="0"/>
              <a:t>2/1/2026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1CC7E6-B446-F548-8841-94B308AA320D}" type="slidenum">
              <a:rPr lang="en-US" smtClean="0"/>
              <a:t>‹#›</a:t>
            </a:fld>
            <a:endParaRPr lang="en-US"/>
          </a:p>
        </p:txBody>
      </p:sp>
    </p:spTree>
    <p:extLst>
      <p:ext uri="{BB962C8B-B14F-4D97-AF65-F5344CB8AC3E}">
        <p14:creationId xmlns:p14="http://schemas.microsoft.com/office/powerpoint/2010/main" val="576546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894846" y="1769078"/>
            <a:ext cx="7437816" cy="2727060"/>
          </a:xfrm>
          <a:prstGeom prst="rect">
            <a:avLst/>
          </a:prstGeom>
        </p:spPr>
        <p:txBody>
          <a:bodyPr anchor="ctr">
            <a:normAutofit/>
          </a:bodyPr>
          <a:lstStyle>
            <a:lvl1pPr algn="l">
              <a:defRPr sz="4000" b="1" baseline="0">
                <a:solidFill>
                  <a:srgbClr val="BF5700"/>
                </a:solidFill>
                <a:latin typeface="Arial"/>
                <a:cs typeface="Arial"/>
              </a:defRPr>
            </a:lvl1pPr>
          </a:lstStyle>
          <a:p>
            <a:r>
              <a:rPr lang="en-US"/>
              <a:t>Click to edit Master title style</a:t>
            </a:r>
          </a:p>
        </p:txBody>
      </p:sp>
      <p:sp>
        <p:nvSpPr>
          <p:cNvPr id="8" name="Subtitle 2"/>
          <p:cNvSpPr>
            <a:spLocks noGrp="1"/>
          </p:cNvSpPr>
          <p:nvPr>
            <p:ph type="subTitle" idx="1"/>
          </p:nvPr>
        </p:nvSpPr>
        <p:spPr>
          <a:xfrm>
            <a:off x="1598884" y="4773623"/>
            <a:ext cx="6733778" cy="1655762"/>
          </a:xfrm>
          <a:prstGeom prst="rect">
            <a:avLst/>
          </a:prstGeom>
        </p:spPr>
        <p:txBody>
          <a:bodyPr>
            <a:normAutofit/>
          </a:bodyPr>
          <a:lstStyle>
            <a:lvl1pPr marL="0" indent="0" algn="r">
              <a:buNone/>
              <a:defRPr sz="1600" baseline="0">
                <a:solidFill>
                  <a:schemeClr val="bg2"/>
                </a:solidFill>
                <a:latin typeface="Arial"/>
                <a:cs typeface="Arial"/>
              </a:defRPr>
            </a:lvl1pPr>
          </a:lstStyle>
          <a:p>
            <a:r>
              <a:rPr lang="en-US"/>
              <a:t>Click to edit Master subtitle style</a:t>
            </a:r>
          </a:p>
        </p:txBody>
      </p:sp>
    </p:spTree>
    <p:extLst>
      <p:ext uri="{BB962C8B-B14F-4D97-AF65-F5344CB8AC3E}">
        <p14:creationId xmlns:p14="http://schemas.microsoft.com/office/powerpoint/2010/main" val="2991564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ransitional Title">
    <p:spTree>
      <p:nvGrpSpPr>
        <p:cNvPr id="1" name=""/>
        <p:cNvGrpSpPr/>
        <p:nvPr/>
      </p:nvGrpSpPr>
      <p:grpSpPr>
        <a:xfrm>
          <a:off x="0" y="0"/>
          <a:ext cx="0" cy="0"/>
          <a:chOff x="0" y="0"/>
          <a:chExt cx="0" cy="0"/>
        </a:xfrm>
      </p:grpSpPr>
      <p:sp>
        <p:nvSpPr>
          <p:cNvPr id="6" name="Title 1"/>
          <p:cNvSpPr>
            <a:spLocks noGrp="1"/>
          </p:cNvSpPr>
          <p:nvPr>
            <p:ph type="ctrTitle"/>
          </p:nvPr>
        </p:nvSpPr>
        <p:spPr>
          <a:xfrm>
            <a:off x="894846" y="1769078"/>
            <a:ext cx="7437816" cy="2727060"/>
          </a:xfrm>
          <a:prstGeom prst="rect">
            <a:avLst/>
          </a:prstGeom>
        </p:spPr>
        <p:txBody>
          <a:bodyPr anchor="ctr">
            <a:normAutofit/>
          </a:bodyPr>
          <a:lstStyle>
            <a:lvl1pPr algn="l">
              <a:defRPr sz="4000" b="1" baseline="0">
                <a:solidFill>
                  <a:srgbClr val="BF5700"/>
                </a:solidFill>
                <a:latin typeface="Arial"/>
                <a:cs typeface="Arial"/>
              </a:defRPr>
            </a:lvl1pPr>
          </a:lstStyle>
          <a:p>
            <a:r>
              <a:rPr lang="en-US"/>
              <a:t>Click to edit Master title style</a:t>
            </a:r>
          </a:p>
        </p:txBody>
      </p:sp>
      <p:sp>
        <p:nvSpPr>
          <p:cNvPr id="7" name="Subtitle 2"/>
          <p:cNvSpPr>
            <a:spLocks noGrp="1"/>
          </p:cNvSpPr>
          <p:nvPr>
            <p:ph type="subTitle" idx="1"/>
          </p:nvPr>
        </p:nvSpPr>
        <p:spPr>
          <a:xfrm>
            <a:off x="1598884" y="4773623"/>
            <a:ext cx="6733778" cy="1655762"/>
          </a:xfrm>
          <a:prstGeom prst="rect">
            <a:avLst/>
          </a:prstGeom>
        </p:spPr>
        <p:txBody>
          <a:bodyPr>
            <a:normAutofit/>
          </a:bodyPr>
          <a:lstStyle>
            <a:lvl1pPr marL="0" indent="0" algn="r">
              <a:buNone/>
              <a:defRPr sz="1600" baseline="0">
                <a:solidFill>
                  <a:schemeClr val="bg2"/>
                </a:solidFill>
                <a:latin typeface="Arial"/>
                <a:cs typeface="Arial"/>
              </a:defRPr>
            </a:lvl1pPr>
          </a:lstStyle>
          <a:p>
            <a:r>
              <a:rPr lang="en-US"/>
              <a:t>Click to edit Master subtitle style</a:t>
            </a:r>
          </a:p>
        </p:txBody>
      </p:sp>
    </p:spTree>
    <p:extLst>
      <p:ext uri="{BB962C8B-B14F-4D97-AF65-F5344CB8AC3E}">
        <p14:creationId xmlns:p14="http://schemas.microsoft.com/office/powerpoint/2010/main" val="173045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709033" y="1058239"/>
            <a:ext cx="7740650" cy="688975"/>
          </a:xfrm>
          <a:prstGeom prst="rect">
            <a:avLst/>
          </a:prstGeom>
        </p:spPr>
        <p:txBody>
          <a:bodyPr>
            <a:normAutofit/>
          </a:bodyPr>
          <a:lstStyle>
            <a:lvl1pPr algn="l">
              <a:defRPr sz="3600" b="1">
                <a:solidFill>
                  <a:srgbClr val="BF5700"/>
                </a:solidFill>
                <a:latin typeface="Arial"/>
                <a:cs typeface="Arial"/>
              </a:defRPr>
            </a:lvl1pPr>
          </a:lstStyle>
          <a:p>
            <a:r>
              <a:rPr lang="en-US"/>
              <a:t>Click to edit Master title style</a:t>
            </a:r>
          </a:p>
        </p:txBody>
      </p:sp>
      <p:sp>
        <p:nvSpPr>
          <p:cNvPr id="8" name="Content Placeholder 2"/>
          <p:cNvSpPr>
            <a:spLocks noGrp="1"/>
          </p:cNvSpPr>
          <p:nvPr>
            <p:ph idx="1"/>
          </p:nvPr>
        </p:nvSpPr>
        <p:spPr bwMode="auto">
          <a:xfrm>
            <a:off x="709033" y="1855886"/>
            <a:ext cx="7734300" cy="4589463"/>
          </a:xfrm>
          <a:prstGeom prst="rect">
            <a:avLst/>
          </a:prstGeom>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buClr>
                <a:schemeClr val="bg2"/>
              </a:buClr>
              <a:defRPr sz="2400" baseline="0">
                <a:solidFill>
                  <a:schemeClr val="tx1">
                    <a:lumMod val="65000"/>
                    <a:lumOff val="35000"/>
                  </a:schemeClr>
                </a:solidFill>
                <a:latin typeface="Arial"/>
                <a:cs typeface="Arial"/>
              </a:defRPr>
            </a:lvl1pPr>
            <a:lvl2pPr marL="800100" indent="-342900">
              <a:buClr>
                <a:schemeClr val="bg2"/>
              </a:buClr>
              <a:buFont typeface="Lucida Grande"/>
              <a:buChar char="-"/>
              <a:defRPr sz="2200" baseline="0">
                <a:solidFill>
                  <a:schemeClr val="tx1">
                    <a:lumMod val="65000"/>
                    <a:lumOff val="35000"/>
                  </a:schemeClr>
                </a:solidFill>
                <a:latin typeface="Arial"/>
                <a:cs typeface="Arial"/>
              </a:defRPr>
            </a:lvl2pPr>
            <a:lvl3pPr marL="1257300" indent="-342900">
              <a:buClr>
                <a:schemeClr val="bg2"/>
              </a:buClr>
              <a:buFont typeface="Arial"/>
              <a:buChar char="•"/>
              <a:defRPr sz="2000" baseline="0">
                <a:solidFill>
                  <a:schemeClr val="tx1">
                    <a:lumMod val="65000"/>
                    <a:lumOff val="35000"/>
                  </a:schemeClr>
                </a:solidFill>
                <a:latin typeface="Arial"/>
                <a:cs typeface="Aria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30586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uble Object">
    <p:spTree>
      <p:nvGrpSpPr>
        <p:cNvPr id="1" name=""/>
        <p:cNvGrpSpPr/>
        <p:nvPr/>
      </p:nvGrpSpPr>
      <p:grpSpPr>
        <a:xfrm>
          <a:off x="0" y="0"/>
          <a:ext cx="0" cy="0"/>
          <a:chOff x="0" y="0"/>
          <a:chExt cx="0" cy="0"/>
        </a:xfrm>
      </p:grpSpPr>
      <p:sp>
        <p:nvSpPr>
          <p:cNvPr id="10" name="Content Placeholder 1"/>
          <p:cNvSpPr>
            <a:spLocks noGrp="1"/>
          </p:cNvSpPr>
          <p:nvPr>
            <p:ph sz="half" idx="1"/>
          </p:nvPr>
        </p:nvSpPr>
        <p:spPr bwMode="auto">
          <a:xfrm>
            <a:off x="628650" y="1929440"/>
            <a:ext cx="3867150" cy="4333875"/>
          </a:xfrm>
          <a:prstGeom prst="rect">
            <a:avLst/>
          </a:prstGeom>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2400">
                <a:solidFill>
                  <a:schemeClr val="tx1">
                    <a:lumMod val="65000"/>
                    <a:lumOff val="35000"/>
                  </a:schemeClr>
                </a:solidFill>
                <a:latin typeface="Arial"/>
                <a:cs typeface="Arial"/>
              </a:defRPr>
            </a:lvl1pPr>
            <a:lvl2pPr>
              <a:defRPr sz="2200">
                <a:solidFill>
                  <a:schemeClr val="tx1">
                    <a:lumMod val="65000"/>
                    <a:lumOff val="35000"/>
                  </a:schemeClr>
                </a:solidFill>
                <a:latin typeface="Arial"/>
                <a:cs typeface="Arial"/>
              </a:defRPr>
            </a:lvl2pPr>
            <a:lvl3pPr>
              <a:defRPr sz="2000">
                <a:solidFill>
                  <a:schemeClr val="tx1">
                    <a:lumMod val="65000"/>
                    <a:lumOff val="35000"/>
                  </a:schemeClr>
                </a:solidFill>
                <a:latin typeface="Arial"/>
                <a:cs typeface="Arial"/>
              </a:defRPr>
            </a:lvl3pPr>
          </a:lstStyle>
          <a:p>
            <a:pPr lvl="0"/>
            <a:r>
              <a:rPr lang="en-US"/>
              <a:t>Click to edit Master text styles</a:t>
            </a:r>
          </a:p>
          <a:p>
            <a:pPr lvl="1"/>
            <a:r>
              <a:rPr lang="en-US"/>
              <a:t>Second level</a:t>
            </a:r>
          </a:p>
          <a:p>
            <a:pPr lvl="2"/>
            <a:r>
              <a:rPr lang="en-US"/>
              <a:t>Third level</a:t>
            </a:r>
          </a:p>
        </p:txBody>
      </p:sp>
      <p:sp>
        <p:nvSpPr>
          <p:cNvPr id="13" name="Title 1"/>
          <p:cNvSpPr>
            <a:spLocks noGrp="1"/>
          </p:cNvSpPr>
          <p:nvPr>
            <p:ph type="title"/>
          </p:nvPr>
        </p:nvSpPr>
        <p:spPr>
          <a:xfrm>
            <a:off x="628650" y="1071686"/>
            <a:ext cx="7913397" cy="688975"/>
          </a:xfrm>
          <a:prstGeom prst="rect">
            <a:avLst/>
          </a:prstGeom>
        </p:spPr>
        <p:txBody>
          <a:bodyPr>
            <a:normAutofit/>
          </a:bodyPr>
          <a:lstStyle>
            <a:lvl1pPr algn="l">
              <a:defRPr sz="3600" b="1">
                <a:solidFill>
                  <a:srgbClr val="BF5700"/>
                </a:solidFill>
                <a:latin typeface="Arial"/>
                <a:cs typeface="Arial"/>
              </a:defRPr>
            </a:lvl1pPr>
          </a:lstStyle>
          <a:p>
            <a:r>
              <a:rPr lang="en-US"/>
              <a:t>Click to edit Master title style</a:t>
            </a:r>
          </a:p>
        </p:txBody>
      </p:sp>
      <p:sp>
        <p:nvSpPr>
          <p:cNvPr id="4" name="Content Placeholder 1"/>
          <p:cNvSpPr>
            <a:spLocks noGrp="1"/>
          </p:cNvSpPr>
          <p:nvPr>
            <p:ph sz="half" idx="10"/>
          </p:nvPr>
        </p:nvSpPr>
        <p:spPr bwMode="auto">
          <a:xfrm>
            <a:off x="4674897" y="1928888"/>
            <a:ext cx="3867150" cy="4333875"/>
          </a:xfrm>
          <a:prstGeom prst="rect">
            <a:avLst/>
          </a:prstGeom>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2400">
                <a:solidFill>
                  <a:schemeClr val="tx1">
                    <a:lumMod val="65000"/>
                    <a:lumOff val="35000"/>
                  </a:schemeClr>
                </a:solidFill>
                <a:latin typeface="Arial"/>
                <a:cs typeface="Arial"/>
              </a:defRPr>
            </a:lvl1pPr>
            <a:lvl2pPr>
              <a:defRPr sz="2200">
                <a:solidFill>
                  <a:schemeClr val="tx1">
                    <a:lumMod val="65000"/>
                    <a:lumOff val="35000"/>
                  </a:schemeClr>
                </a:solidFill>
                <a:latin typeface="Arial"/>
                <a:cs typeface="Arial"/>
              </a:defRPr>
            </a:lvl2pPr>
            <a:lvl3pPr>
              <a:defRPr sz="2000">
                <a:solidFill>
                  <a:schemeClr val="tx1">
                    <a:lumMod val="65000"/>
                    <a:lumOff val="35000"/>
                  </a:schemeClr>
                </a:solidFill>
                <a:latin typeface="Arial"/>
                <a:cs typeface="Aria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99720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ull Quote Slide">
    <p:spTree>
      <p:nvGrpSpPr>
        <p:cNvPr id="1" name=""/>
        <p:cNvGrpSpPr/>
        <p:nvPr/>
      </p:nvGrpSpPr>
      <p:grpSpPr>
        <a:xfrm>
          <a:off x="0" y="0"/>
          <a:ext cx="0" cy="0"/>
          <a:chOff x="0" y="0"/>
          <a:chExt cx="0" cy="0"/>
        </a:xfrm>
      </p:grpSpPr>
      <p:sp>
        <p:nvSpPr>
          <p:cNvPr id="2" name="Rectangle 1"/>
          <p:cNvSpPr/>
          <p:nvPr/>
        </p:nvSpPr>
        <p:spPr>
          <a:xfrm>
            <a:off x="0" y="0"/>
            <a:ext cx="9144000" cy="6911975"/>
          </a:xfrm>
          <a:prstGeom prst="rect">
            <a:avLst/>
          </a:prstGeom>
          <a:solidFill>
            <a:srgbClr val="B0430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Tree>
    <p:extLst>
      <p:ext uri="{BB962C8B-B14F-4D97-AF65-F5344CB8AC3E}">
        <p14:creationId xmlns:p14="http://schemas.microsoft.com/office/powerpoint/2010/main" val="293853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losing Slide">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B0430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pic>
        <p:nvPicPr>
          <p:cNvPr id="3" name="Picture 4" descr="knockout_formal_Cockrell.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16088" y="2552700"/>
            <a:ext cx="8143875" cy="29606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9688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Content Placeholder 1"/>
          <p:cNvSpPr>
            <a:spLocks noGrp="1"/>
          </p:cNvSpPr>
          <p:nvPr>
            <p:ph sz="half" idx="1"/>
          </p:nvPr>
        </p:nvSpPr>
        <p:spPr bwMode="auto">
          <a:xfrm>
            <a:off x="628650" y="1929440"/>
            <a:ext cx="3867150" cy="4333875"/>
          </a:xfrm>
          <a:prstGeom prst="rect">
            <a:avLst/>
          </a:prstGeom>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2400">
                <a:solidFill>
                  <a:schemeClr val="tx1">
                    <a:lumMod val="65000"/>
                    <a:lumOff val="35000"/>
                  </a:schemeClr>
                </a:solidFill>
                <a:latin typeface="Arial"/>
                <a:cs typeface="Arial"/>
              </a:defRPr>
            </a:lvl1pPr>
            <a:lvl2pPr>
              <a:defRPr sz="2200">
                <a:solidFill>
                  <a:schemeClr val="tx1">
                    <a:lumMod val="65000"/>
                    <a:lumOff val="35000"/>
                  </a:schemeClr>
                </a:solidFill>
                <a:latin typeface="Arial"/>
                <a:cs typeface="Arial"/>
              </a:defRPr>
            </a:lvl2pPr>
            <a:lvl3pPr>
              <a:defRPr sz="2000">
                <a:solidFill>
                  <a:schemeClr val="tx1">
                    <a:lumMod val="65000"/>
                    <a:lumOff val="35000"/>
                  </a:schemeClr>
                </a:solidFill>
                <a:latin typeface="Arial"/>
                <a:cs typeface="Arial"/>
              </a:defRPr>
            </a:lvl3pPr>
          </a:lstStyle>
          <a:p>
            <a:pPr lvl="0"/>
            <a:r>
              <a:rPr lang="en-US"/>
              <a:t>Click to edit Master text styles</a:t>
            </a:r>
          </a:p>
          <a:p>
            <a:pPr lvl="1"/>
            <a:r>
              <a:rPr lang="en-US"/>
              <a:t>Second level</a:t>
            </a:r>
          </a:p>
          <a:p>
            <a:pPr lvl="2"/>
            <a:r>
              <a:rPr lang="en-US"/>
              <a:t>Third level</a:t>
            </a:r>
          </a:p>
        </p:txBody>
      </p:sp>
      <p:sp>
        <p:nvSpPr>
          <p:cNvPr id="8" name="Title 1"/>
          <p:cNvSpPr>
            <a:spLocks noGrp="1"/>
          </p:cNvSpPr>
          <p:nvPr>
            <p:ph type="title"/>
          </p:nvPr>
        </p:nvSpPr>
        <p:spPr>
          <a:xfrm>
            <a:off x="628650" y="1071686"/>
            <a:ext cx="7913397" cy="688975"/>
          </a:xfrm>
          <a:prstGeom prst="rect">
            <a:avLst/>
          </a:prstGeom>
        </p:spPr>
        <p:txBody>
          <a:bodyPr>
            <a:normAutofit/>
          </a:bodyPr>
          <a:lstStyle>
            <a:lvl1pPr algn="l">
              <a:defRPr sz="3600" b="1">
                <a:solidFill>
                  <a:srgbClr val="BF5700"/>
                </a:solidFill>
                <a:latin typeface="Arial"/>
                <a:cs typeface="Arial"/>
              </a:defRPr>
            </a:lvl1pPr>
          </a:lstStyle>
          <a:p>
            <a:r>
              <a:rPr lang="en-US"/>
              <a:t>Click to edit Master title style</a:t>
            </a:r>
          </a:p>
        </p:txBody>
      </p:sp>
      <p:sp>
        <p:nvSpPr>
          <p:cNvPr id="9" name="Content Placeholder 1"/>
          <p:cNvSpPr>
            <a:spLocks noGrp="1"/>
          </p:cNvSpPr>
          <p:nvPr>
            <p:ph sz="half" idx="10"/>
          </p:nvPr>
        </p:nvSpPr>
        <p:spPr bwMode="auto">
          <a:xfrm>
            <a:off x="4674897" y="1928888"/>
            <a:ext cx="3867150" cy="4333875"/>
          </a:xfrm>
          <a:prstGeom prst="rect">
            <a:avLst/>
          </a:prstGeom>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2400">
                <a:solidFill>
                  <a:schemeClr val="tx1">
                    <a:lumMod val="65000"/>
                    <a:lumOff val="35000"/>
                  </a:schemeClr>
                </a:solidFill>
                <a:latin typeface="Arial"/>
                <a:cs typeface="Arial"/>
              </a:defRPr>
            </a:lvl1pPr>
            <a:lvl2pPr>
              <a:defRPr sz="2200">
                <a:solidFill>
                  <a:schemeClr val="tx1">
                    <a:lumMod val="65000"/>
                    <a:lumOff val="35000"/>
                  </a:schemeClr>
                </a:solidFill>
                <a:latin typeface="Arial"/>
                <a:cs typeface="Arial"/>
              </a:defRPr>
            </a:lvl2pPr>
            <a:lvl3pPr>
              <a:defRPr sz="2000">
                <a:solidFill>
                  <a:schemeClr val="tx1">
                    <a:lumMod val="65000"/>
                    <a:lumOff val="35000"/>
                  </a:schemeClr>
                </a:solidFill>
                <a:latin typeface="Arial"/>
                <a:cs typeface="Aria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15173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709033" y="1058239"/>
            <a:ext cx="7740650" cy="688975"/>
          </a:xfrm>
          <a:prstGeom prst="rect">
            <a:avLst/>
          </a:prstGeom>
        </p:spPr>
        <p:txBody>
          <a:bodyPr>
            <a:normAutofit/>
          </a:bodyPr>
          <a:lstStyle>
            <a:lvl1pPr algn="l">
              <a:defRPr sz="3600" b="1">
                <a:solidFill>
                  <a:srgbClr val="BF5700"/>
                </a:solidFill>
                <a:latin typeface="Arial"/>
                <a:cs typeface="Arial"/>
              </a:defRPr>
            </a:lvl1pPr>
          </a:lstStyle>
          <a:p>
            <a:r>
              <a:rPr lang="en-US"/>
              <a:t>Click to edit Master title style</a:t>
            </a:r>
          </a:p>
        </p:txBody>
      </p:sp>
      <p:sp>
        <p:nvSpPr>
          <p:cNvPr id="8" name="Content Placeholder 2"/>
          <p:cNvSpPr>
            <a:spLocks noGrp="1"/>
          </p:cNvSpPr>
          <p:nvPr>
            <p:ph idx="1"/>
          </p:nvPr>
        </p:nvSpPr>
        <p:spPr bwMode="auto">
          <a:xfrm>
            <a:off x="709033" y="1855886"/>
            <a:ext cx="7734300" cy="4589463"/>
          </a:xfrm>
          <a:prstGeom prst="rect">
            <a:avLst/>
          </a:prstGeom>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buClr>
                <a:schemeClr val="bg2"/>
              </a:buClr>
              <a:defRPr sz="2400" baseline="0">
                <a:solidFill>
                  <a:schemeClr val="tx1">
                    <a:lumMod val="65000"/>
                    <a:lumOff val="35000"/>
                  </a:schemeClr>
                </a:solidFill>
                <a:latin typeface="Arial"/>
                <a:cs typeface="Arial"/>
              </a:defRPr>
            </a:lvl1pPr>
            <a:lvl2pPr marL="800100" indent="-342900">
              <a:buClr>
                <a:schemeClr val="bg2"/>
              </a:buClr>
              <a:buFont typeface="Lucida Grande"/>
              <a:buChar char="-"/>
              <a:defRPr sz="2200" baseline="0">
                <a:solidFill>
                  <a:schemeClr val="tx1">
                    <a:lumMod val="65000"/>
                    <a:lumOff val="35000"/>
                  </a:schemeClr>
                </a:solidFill>
                <a:latin typeface="Arial"/>
                <a:cs typeface="Arial"/>
              </a:defRPr>
            </a:lvl2pPr>
            <a:lvl3pPr marL="1257300" indent="-342900">
              <a:buClr>
                <a:schemeClr val="bg2"/>
              </a:buClr>
              <a:buFont typeface="Arial"/>
              <a:buChar char="•"/>
              <a:defRPr sz="2000" baseline="0">
                <a:solidFill>
                  <a:schemeClr val="tx1">
                    <a:lumMod val="65000"/>
                    <a:lumOff val="35000"/>
                  </a:schemeClr>
                </a:solidFill>
                <a:latin typeface="Arial"/>
                <a:cs typeface="Aria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35067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9007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71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image" Target="../media/image3.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349"/>
            <a:ext cx="9144000" cy="655225"/>
          </a:xfrm>
          <a:prstGeom prst="rect">
            <a:avLst/>
          </a:prstGeom>
          <a:solidFill>
            <a:srgbClr val="B0430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pic>
        <p:nvPicPr>
          <p:cNvPr id="2" name="Picture 1"/>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37258" y="83392"/>
            <a:ext cx="2514943" cy="502538"/>
          </a:xfrm>
          <a:prstGeom prst="rect">
            <a:avLst/>
          </a:prstGeom>
        </p:spPr>
      </p:pic>
      <p:sp>
        <p:nvSpPr>
          <p:cNvPr id="3" name="TextBox 2">
            <a:extLst>
              <a:ext uri="{FF2B5EF4-FFF2-40B4-BE49-F238E27FC236}">
                <a16:creationId xmlns:a16="http://schemas.microsoft.com/office/drawing/2014/main" id="{6647E0C5-B503-4AC3-9922-270730B29508}"/>
              </a:ext>
            </a:extLst>
          </p:cNvPr>
          <p:cNvSpPr txBox="1"/>
          <p:nvPr userDrawn="1"/>
        </p:nvSpPr>
        <p:spPr>
          <a:xfrm>
            <a:off x="3205467" y="57178"/>
            <a:ext cx="4661276" cy="523220"/>
          </a:xfrm>
          <a:prstGeom prst="rect">
            <a:avLst/>
          </a:prstGeom>
          <a:noFill/>
        </p:spPr>
        <p:txBody>
          <a:bodyPr wrap="none" rtlCol="0">
            <a:spAutoFit/>
          </a:bodyPr>
          <a:lstStyle/>
          <a:p>
            <a:r>
              <a:t>Energy A.I. 2026 Hackathon</a:t>
            </a:r>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6" r:id="rId5"/>
    <p:sldLayoutId id="2147483677" r:id="rId6"/>
  </p:sldLayoutIdLst>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1"/>
            <a:ext cx="9144000" cy="753034"/>
          </a:xfrm>
          <a:prstGeom prst="rect">
            <a:avLst/>
          </a:prstGeom>
          <a:solidFill>
            <a:srgbClr val="B0430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7118" y="-92823"/>
            <a:ext cx="2067112" cy="929564"/>
          </a:xfrm>
          <a:prstGeom prst="rect">
            <a:avLst/>
          </a:prstGeom>
        </p:spPr>
      </p:pic>
    </p:spTree>
    <p:extLst>
      <p:ext uri="{BB962C8B-B14F-4D97-AF65-F5344CB8AC3E}">
        <p14:creationId xmlns:p14="http://schemas.microsoft.com/office/powerpoint/2010/main" val="173265862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3CAC856-1BBB-45BD-8E9F-47D8B49C9EFA}"/>
              </a:ext>
            </a:extLst>
          </p:cNvPr>
          <p:cNvSpPr txBox="1"/>
          <p:nvPr/>
        </p:nvSpPr>
        <p:spPr>
          <a:xfrm>
            <a:off x="24940" y="1674673"/>
            <a:ext cx="9085812" cy="3877985"/>
          </a:xfrm>
          <a:prstGeom prst="rect">
            <a:avLst/>
          </a:prstGeom>
          <a:noFill/>
        </p:spPr>
        <p:txBody>
          <a:bodyPr wrap="square">
            <a:spAutoFit/>
          </a:bodyPr>
          <a:lstStyle/>
          <a:p>
            <a:pPr algn="ctr"/>
            <a:endParaRPr lang="en-US" sz="2000" b="1" i="0" u="none" strike="noStrike" baseline="0">
              <a:latin typeface="+mn-lt"/>
              <a:cs typeface="Arial" panose="020B0604020202020204" pitchFamily="34" charset="0"/>
            </a:endParaRPr>
          </a:p>
          <a:p>
            <a:pPr algn="ctr"/>
            <a:r>
              <a:rPr lang="en-US" sz="2000" b="1">
                <a:latin typeface="+mn-lt"/>
                <a:cs typeface="Arial" panose="020B0604020202020204" pitchFamily="34" charset="0"/>
              </a:rPr>
              <a:t>Hackathon Project Final Presentation</a:t>
            </a:r>
          </a:p>
          <a:p>
            <a:pPr algn="ctr"/>
            <a:endParaRPr lang="en-US" sz="2000" b="1">
              <a:latin typeface="+mn-lt"/>
              <a:cs typeface="Arial" panose="020B0604020202020204" pitchFamily="34" charset="0"/>
            </a:endParaRPr>
          </a:p>
          <a:p>
            <a:pPr algn="ctr"/>
            <a:endParaRPr lang="en-US" sz="1800" b="1">
              <a:latin typeface="+mn-lt"/>
              <a:cs typeface="Arial" panose="020B0604020202020204" pitchFamily="34" charset="0"/>
            </a:endParaRPr>
          </a:p>
          <a:p>
            <a:pPr algn="ctr"/>
            <a:r>
              <a:rPr lang="en-US"/>
              <a:t>February 1st</a:t>
            </a:r>
            <a:r>
              <a:t>, 2026</a:t>
            </a:r>
          </a:p>
          <a:p>
            <a:pPr algn="ctr"/>
            <a:endParaRPr lang="en-US" sz="1800" b="1" i="0" u="none" strike="noStrike" baseline="0">
              <a:latin typeface="+mn-lt"/>
              <a:cs typeface="Arial" panose="020B0604020202020204" pitchFamily="34" charset="0"/>
            </a:endParaRPr>
          </a:p>
          <a:p>
            <a:pPr algn="ctr"/>
            <a:endParaRPr lang="en-US" sz="1800" b="1">
              <a:latin typeface="+mn-lt"/>
              <a:cs typeface="Arial" panose="020B0604020202020204" pitchFamily="34" charset="0"/>
            </a:endParaRPr>
          </a:p>
          <a:p>
            <a:pPr algn="ctr"/>
            <a:r>
              <a:rPr lang="en-US" sz="1800" b="1">
                <a:latin typeface="+mn-lt"/>
                <a:cs typeface="Arial" panose="020B0604020202020204" pitchFamily="34" charset="0"/>
              </a:rPr>
              <a:t>Prosper Petroleum Engineers</a:t>
            </a:r>
            <a:endParaRPr lang="en-US" sz="1800" b="1" i="0" u="none" strike="noStrike" baseline="0">
              <a:latin typeface="+mn-lt"/>
              <a:cs typeface="Arial" panose="020B0604020202020204" pitchFamily="34" charset="0"/>
            </a:endParaRPr>
          </a:p>
          <a:p>
            <a:pPr algn="ctr"/>
            <a:endParaRPr lang="en-US" sz="1800" b="1">
              <a:latin typeface="+mn-lt"/>
              <a:cs typeface="Arial" panose="020B0604020202020204" pitchFamily="34" charset="0"/>
            </a:endParaRPr>
          </a:p>
          <a:p>
            <a:pPr algn="ctr"/>
            <a:r>
              <a:rPr lang="en-US" sz="1800" b="1">
                <a:latin typeface="+mn-lt"/>
                <a:cs typeface="Arial" panose="020B0604020202020204" pitchFamily="34" charset="0"/>
              </a:rPr>
              <a:t>Tejas Dasa, Saksham Agarwal, Puranjay Prashanth, Vivaan Moharir, Sanjay </a:t>
            </a:r>
            <a:r>
              <a:rPr lang="en-US" sz="1800" b="1" err="1">
                <a:latin typeface="+mn-lt"/>
                <a:cs typeface="Arial" panose="020B0604020202020204" pitchFamily="34" charset="0"/>
              </a:rPr>
              <a:t>Rajjan</a:t>
            </a:r>
            <a:endParaRPr lang="en-US" sz="1800" b="1">
              <a:latin typeface="+mn-lt"/>
              <a:cs typeface="Arial" panose="020B0604020202020204" pitchFamily="34" charset="0"/>
            </a:endParaRPr>
          </a:p>
          <a:p>
            <a:pPr algn="ctr"/>
            <a:endParaRPr lang="en-US" sz="1800" b="1">
              <a:latin typeface="+mn-lt"/>
              <a:cs typeface="Arial" panose="020B0604020202020204" pitchFamily="34" charset="0"/>
            </a:endParaRPr>
          </a:p>
          <a:p>
            <a:pPr algn="ctr"/>
            <a:r>
              <a:rPr lang="en-US" sz="1800" b="1">
                <a:latin typeface="+mn-lt"/>
                <a:cs typeface="Arial" panose="020B0604020202020204" pitchFamily="34" charset="0"/>
              </a:rPr>
              <a:t>Cockrell School of Engineering</a:t>
            </a:r>
          </a:p>
          <a:p>
            <a:pPr algn="ctr"/>
            <a:r>
              <a:rPr lang="en-US" sz="1800" b="1">
                <a:latin typeface="+mn-lt"/>
                <a:cs typeface="Arial" panose="020B0604020202020204" pitchFamily="34" charset="0"/>
              </a:rPr>
              <a:t>College of Natural Sciences</a:t>
            </a:r>
            <a:endParaRPr lang="en-US" sz="180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3CAC856-1BBB-45BD-8E9F-47D8B49C9EFA}"/>
              </a:ext>
            </a:extLst>
          </p:cNvPr>
          <p:cNvSpPr txBox="1"/>
          <p:nvPr/>
        </p:nvSpPr>
        <p:spPr>
          <a:xfrm>
            <a:off x="506027" y="857928"/>
            <a:ext cx="8043169" cy="4493538"/>
          </a:xfrm>
          <a:prstGeom prst="rect">
            <a:avLst/>
          </a:prstGeom>
          <a:noFill/>
        </p:spPr>
        <p:txBody>
          <a:bodyPr wrap="square">
            <a:spAutoFit/>
          </a:bodyPr>
          <a:lstStyle/>
          <a:p>
            <a:pPr algn="ctr"/>
            <a:r>
              <a:rPr lang="en-US" sz="2800" b="1">
                <a:latin typeface="+mn-lt"/>
                <a:cs typeface="Arial" panose="020B0604020202020204" pitchFamily="34" charset="0"/>
              </a:rPr>
              <a:t>Executive Summary</a:t>
            </a:r>
          </a:p>
          <a:p>
            <a:pPr algn="ctr"/>
            <a:endParaRPr lang="en-US" sz="2000" b="1">
              <a:latin typeface="+mn-lt"/>
              <a:cs typeface="Arial" panose="020B0604020202020204" pitchFamily="34" charset="0"/>
            </a:endParaRPr>
          </a:p>
          <a:p>
            <a:pPr algn="ctr"/>
            <a:endParaRPr lang="en-US" sz="2000" b="1">
              <a:latin typeface="+mn-lt"/>
              <a:cs typeface="Arial" panose="020B0604020202020204" pitchFamily="34" charset="0"/>
            </a:endParaRPr>
          </a:p>
          <a:p>
            <a:r>
              <a:rPr lang="en-US" sz="2000"/>
              <a:t>The objective was to predict 3-year cumulative oil production by integrating well logs, production history, and seismic-derived sand proportion maps. Our team conducted extensive exploratory data analysis to clean the data, applied advanced signal processing to denoise seismic features, and developed an optimized </a:t>
            </a:r>
            <a:r>
              <a:rPr lang="en-US" sz="2000" err="1"/>
              <a:t>XGBoost</a:t>
            </a:r>
            <a:r>
              <a:rPr lang="en-US" sz="2000"/>
              <a:t> regressor for forecasting. We learned that applying a combined median and Gaussian filter to the sand proportion map significantly improved feature signal-to-noise ratio, leading to more robust model performance. Going forward, we recommend deploying this denoising pipeline and investigating additional spatial features to further reduce prediction uncertainty.</a:t>
            </a:r>
            <a:endParaRPr lang="en-US" sz="2000" b="1">
              <a:latin typeface="+mn-lt"/>
              <a:cs typeface="Arial" panose="020B0604020202020204" pitchFamily="34" charset="0"/>
            </a:endParaRPr>
          </a:p>
          <a:p>
            <a:pPr algn="ctr"/>
            <a:endParaRPr lang="en-US" sz="1800" b="1">
              <a:latin typeface="+mn-lt"/>
              <a:cs typeface="Arial" panose="020B0604020202020204" pitchFamily="34" charset="0"/>
            </a:endParaRPr>
          </a:p>
        </p:txBody>
      </p:sp>
    </p:spTree>
    <p:extLst>
      <p:ext uri="{BB962C8B-B14F-4D97-AF65-F5344CB8AC3E}">
        <p14:creationId xmlns:p14="http://schemas.microsoft.com/office/powerpoint/2010/main" val="2706057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3CAC856-1BBB-45BD-8E9F-47D8B49C9EFA}"/>
              </a:ext>
            </a:extLst>
          </p:cNvPr>
          <p:cNvSpPr txBox="1"/>
          <p:nvPr/>
        </p:nvSpPr>
        <p:spPr>
          <a:xfrm>
            <a:off x="504901" y="857928"/>
            <a:ext cx="8043169" cy="523220"/>
          </a:xfrm>
          <a:prstGeom prst="rect">
            <a:avLst/>
          </a:prstGeom>
          <a:noFill/>
        </p:spPr>
        <p:txBody>
          <a:bodyPr wrap="square">
            <a:spAutoFit/>
          </a:bodyPr>
          <a:lstStyle/>
          <a:p>
            <a:pPr algn="ctr"/>
            <a:r>
              <a:rPr lang="en-US" sz="2800" b="1">
                <a:latin typeface="+mn-lt"/>
                <a:cs typeface="Arial" panose="020B0604020202020204" pitchFamily="34" charset="0"/>
              </a:rPr>
              <a:t>Workflow</a:t>
            </a:r>
          </a:p>
        </p:txBody>
      </p:sp>
      <p:pic>
        <p:nvPicPr>
          <p:cNvPr id="5" name="Picture 4">
            <a:extLst>
              <a:ext uri="{FF2B5EF4-FFF2-40B4-BE49-F238E27FC236}">
                <a16:creationId xmlns:a16="http://schemas.microsoft.com/office/drawing/2014/main" id="{E84DFCAE-9F24-E180-9429-5EADF8A45AA7}"/>
              </a:ext>
            </a:extLst>
          </p:cNvPr>
          <p:cNvPicPr>
            <a:picLocks noChangeAspect="1"/>
          </p:cNvPicPr>
          <p:nvPr/>
        </p:nvPicPr>
        <p:blipFill>
          <a:blip r:embed="rId2"/>
          <a:stretch>
            <a:fillRect/>
          </a:stretch>
        </p:blipFill>
        <p:spPr>
          <a:xfrm>
            <a:off x="420624" y="1875537"/>
            <a:ext cx="8522208" cy="3929885"/>
          </a:xfrm>
          <a:prstGeom prst="rect">
            <a:avLst/>
          </a:prstGeom>
        </p:spPr>
      </p:pic>
    </p:spTree>
    <p:extLst>
      <p:ext uri="{BB962C8B-B14F-4D97-AF65-F5344CB8AC3E}">
        <p14:creationId xmlns:p14="http://schemas.microsoft.com/office/powerpoint/2010/main" val="3784687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3CAC856-1BBB-45BD-8E9F-47D8B49C9EFA}"/>
              </a:ext>
            </a:extLst>
          </p:cNvPr>
          <p:cNvSpPr txBox="1"/>
          <p:nvPr/>
        </p:nvSpPr>
        <p:spPr>
          <a:xfrm>
            <a:off x="550415" y="909744"/>
            <a:ext cx="8043169" cy="2062103"/>
          </a:xfrm>
          <a:prstGeom prst="rect">
            <a:avLst/>
          </a:prstGeom>
          <a:noFill/>
        </p:spPr>
        <p:txBody>
          <a:bodyPr wrap="square">
            <a:spAutoFit/>
          </a:bodyPr>
          <a:lstStyle/>
          <a:p>
            <a:pPr algn="ctr"/>
            <a:r>
              <a:rPr lang="en-US" sz="2800" b="1"/>
              <a:t>Hybrid "Seismic-Image" Processing</a:t>
            </a:r>
          </a:p>
          <a:p>
            <a:pPr algn="ctr"/>
            <a:endParaRPr lang="en-US" sz="2800">
              <a:latin typeface="+mn-lt"/>
              <a:cs typeface="Arial" panose="020B0604020202020204" pitchFamily="34" charset="0"/>
            </a:endParaRPr>
          </a:p>
          <a:p>
            <a:r>
              <a:rPr lang="en-US" sz="1800">
                <a:latin typeface="+mn-lt"/>
                <a:cs typeface="Arial" panose="020B0604020202020204" pitchFamily="34" charset="0"/>
              </a:rPr>
              <a:t>Instead of treating the geological sand proportion map as a data table, we treated it as an image. This led to us implementing a Sequential Filter Pipeline (Median Filter </a:t>
            </a:r>
            <a:r>
              <a:rPr lang="en-US" sz="1800">
                <a:latin typeface="+mn-lt"/>
                <a:cs typeface="Arial" panose="020B0604020202020204" pitchFamily="34" charset="0"/>
                <a:sym typeface="Wingdings" panose="05000000000000000000" pitchFamily="2" charset="2"/>
              </a:rPr>
              <a:t> Gaussian Filter). This accounts for two types of noise: spikes (handling by Median) and high frequency instrumentation noise (handled by Gaussian).</a:t>
            </a:r>
            <a:endParaRPr lang="en-US" sz="1800">
              <a:latin typeface="+mn-lt"/>
              <a:cs typeface="Arial" panose="020B0604020202020204" pitchFamily="34" charset="0"/>
            </a:endParaRPr>
          </a:p>
        </p:txBody>
      </p:sp>
      <p:pic>
        <p:nvPicPr>
          <p:cNvPr id="5" name="Picture 4">
            <a:extLst>
              <a:ext uri="{FF2B5EF4-FFF2-40B4-BE49-F238E27FC236}">
                <a16:creationId xmlns:a16="http://schemas.microsoft.com/office/drawing/2014/main" id="{27A11AAA-089F-E81A-414F-F39A63D80FCB}"/>
              </a:ext>
            </a:extLst>
          </p:cNvPr>
          <p:cNvPicPr>
            <a:picLocks noChangeAspect="1"/>
          </p:cNvPicPr>
          <p:nvPr/>
        </p:nvPicPr>
        <p:blipFill>
          <a:blip r:embed="rId2"/>
          <a:srcRect l="75084" t="10191"/>
          <a:stretch>
            <a:fillRect/>
          </a:stretch>
        </p:blipFill>
        <p:spPr>
          <a:xfrm>
            <a:off x="4960029" y="3115385"/>
            <a:ext cx="3461093" cy="3528977"/>
          </a:xfrm>
          <a:prstGeom prst="rect">
            <a:avLst/>
          </a:prstGeom>
        </p:spPr>
      </p:pic>
      <p:pic>
        <p:nvPicPr>
          <p:cNvPr id="7" name="Picture 6">
            <a:extLst>
              <a:ext uri="{FF2B5EF4-FFF2-40B4-BE49-F238E27FC236}">
                <a16:creationId xmlns:a16="http://schemas.microsoft.com/office/drawing/2014/main" id="{BDAB3E99-0594-3D65-FE20-A35ECFDD1A1E}"/>
              </a:ext>
            </a:extLst>
          </p:cNvPr>
          <p:cNvPicPr>
            <a:picLocks noChangeAspect="1"/>
          </p:cNvPicPr>
          <p:nvPr/>
        </p:nvPicPr>
        <p:blipFill>
          <a:blip r:embed="rId2"/>
          <a:srcRect t="10855" r="74800"/>
          <a:stretch>
            <a:fillRect/>
          </a:stretch>
        </p:blipFill>
        <p:spPr>
          <a:xfrm>
            <a:off x="722878" y="3093767"/>
            <a:ext cx="3548214" cy="3550595"/>
          </a:xfrm>
          <a:prstGeom prst="rect">
            <a:avLst/>
          </a:prstGeom>
        </p:spPr>
      </p:pic>
    </p:spTree>
    <p:extLst>
      <p:ext uri="{BB962C8B-B14F-4D97-AF65-F5344CB8AC3E}">
        <p14:creationId xmlns:p14="http://schemas.microsoft.com/office/powerpoint/2010/main" val="1926691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46AEC-9513-F837-468E-3FCCB6E23D2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8816AAD-F810-B544-7487-B4D9D63143AE}"/>
              </a:ext>
            </a:extLst>
          </p:cNvPr>
          <p:cNvSpPr txBox="1"/>
          <p:nvPr/>
        </p:nvSpPr>
        <p:spPr>
          <a:xfrm>
            <a:off x="158530" y="909744"/>
            <a:ext cx="8774688" cy="2616101"/>
          </a:xfrm>
          <a:prstGeom prst="rect">
            <a:avLst/>
          </a:prstGeom>
          <a:noFill/>
        </p:spPr>
        <p:txBody>
          <a:bodyPr wrap="square" lIns="91440" tIns="45720" rIns="91440" bIns="45720" anchor="t">
            <a:spAutoFit/>
          </a:bodyPr>
          <a:lstStyle/>
          <a:p>
            <a:pPr algn="ctr"/>
            <a:r>
              <a:rPr lang="en-US" sz="2800" b="1">
                <a:latin typeface="Calibri"/>
                <a:ea typeface="ＭＳ Ｐゴシック"/>
              </a:rPr>
              <a:t>Why </a:t>
            </a:r>
            <a:r>
              <a:rPr lang="en-US" sz="2800" b="1" err="1">
                <a:latin typeface="Calibri"/>
                <a:ea typeface="ＭＳ Ｐゴシック"/>
              </a:rPr>
              <a:t>XGBoost</a:t>
            </a:r>
            <a:r>
              <a:rPr lang="en-US" sz="2800" b="1">
                <a:latin typeface="Calibri"/>
                <a:ea typeface="ＭＳ Ｐゴシック"/>
              </a:rPr>
              <a:t> Regressor</a:t>
            </a:r>
            <a:endParaRPr lang="en-US"/>
          </a:p>
          <a:p>
            <a:pPr algn="ctr"/>
            <a:endParaRPr lang="en-US" sz="2800">
              <a:latin typeface="+mn-lt"/>
              <a:cs typeface="Arial" panose="020B0604020202020204" pitchFamily="34" charset="0"/>
            </a:endParaRPr>
          </a:p>
          <a:p>
            <a:r>
              <a:rPr lang="en-US" sz="1800">
                <a:latin typeface="+mn-lt"/>
                <a:ea typeface="ＭＳ Ｐゴシック"/>
                <a:cs typeface="Arial"/>
              </a:rPr>
              <a:t>We observed that the oil production data is non-linear and distinctively non-Gaussian. This is because geological patterns don't follow a straight line, meaning doubling the porosity doesn't guarantee double the oil.</a:t>
            </a:r>
          </a:p>
          <a:p>
            <a:r>
              <a:rPr lang="en-US" sz="1800">
                <a:latin typeface="+mn-lt"/>
                <a:ea typeface="ＭＳ Ｐゴシック"/>
                <a:cs typeface="Arial"/>
              </a:rPr>
              <a:t>For this dataset size deep learning may overfit, and so we chose </a:t>
            </a:r>
            <a:r>
              <a:rPr lang="en-US" sz="1800" err="1">
                <a:latin typeface="+mn-lt"/>
                <a:ea typeface="ＭＳ Ｐゴシック"/>
                <a:cs typeface="Arial"/>
              </a:rPr>
              <a:t>XGBoost</a:t>
            </a:r>
            <a:r>
              <a:rPr lang="en-US" sz="1800">
                <a:latin typeface="+mn-lt"/>
                <a:ea typeface="ＭＳ Ｐゴシック"/>
                <a:cs typeface="Arial"/>
              </a:rPr>
              <a:t> as it has an optimal balance of variance as well as native feature importance scores. This allows us to accurately determine the production potential of a well.</a:t>
            </a:r>
          </a:p>
        </p:txBody>
      </p:sp>
      <p:pic>
        <p:nvPicPr>
          <p:cNvPr id="3" name="Picture 2">
            <a:extLst>
              <a:ext uri="{FF2B5EF4-FFF2-40B4-BE49-F238E27FC236}">
                <a16:creationId xmlns:a16="http://schemas.microsoft.com/office/drawing/2014/main" id="{BF7E573C-1A14-B9B2-20AD-036D003EA353}"/>
              </a:ext>
            </a:extLst>
          </p:cNvPr>
          <p:cNvPicPr>
            <a:picLocks noChangeAspect="1"/>
          </p:cNvPicPr>
          <p:nvPr/>
        </p:nvPicPr>
        <p:blipFill>
          <a:blip r:embed="rId2"/>
          <a:srcRect r="50185" b="203"/>
          <a:stretch>
            <a:fillRect/>
          </a:stretch>
        </p:blipFill>
        <p:spPr>
          <a:xfrm>
            <a:off x="169817" y="3636039"/>
            <a:ext cx="4307466" cy="3099839"/>
          </a:xfrm>
          <a:prstGeom prst="rect">
            <a:avLst/>
          </a:prstGeom>
        </p:spPr>
      </p:pic>
      <p:pic>
        <p:nvPicPr>
          <p:cNvPr id="4" name="Picture 3">
            <a:extLst>
              <a:ext uri="{FF2B5EF4-FFF2-40B4-BE49-F238E27FC236}">
                <a16:creationId xmlns:a16="http://schemas.microsoft.com/office/drawing/2014/main" id="{03AF7B15-FFA4-C974-B9A8-9A8F160CFF97}"/>
              </a:ext>
            </a:extLst>
          </p:cNvPr>
          <p:cNvPicPr>
            <a:picLocks noChangeAspect="1"/>
          </p:cNvPicPr>
          <p:nvPr/>
        </p:nvPicPr>
        <p:blipFill>
          <a:blip r:embed="rId2"/>
          <a:srcRect l="49185" b="203"/>
          <a:stretch>
            <a:fillRect/>
          </a:stretch>
        </p:blipFill>
        <p:spPr>
          <a:xfrm>
            <a:off x="4663440" y="3636039"/>
            <a:ext cx="4323814" cy="3099839"/>
          </a:xfrm>
          <a:prstGeom prst="rect">
            <a:avLst/>
          </a:prstGeom>
        </p:spPr>
      </p:pic>
    </p:spTree>
    <p:extLst>
      <p:ext uri="{BB962C8B-B14F-4D97-AF65-F5344CB8AC3E}">
        <p14:creationId xmlns:p14="http://schemas.microsoft.com/office/powerpoint/2010/main" val="4268887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4EC2A-AC94-5CDB-3FD9-56C2D7EF741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125806C-C0F9-3F8D-C082-73A9240ABD24}"/>
              </a:ext>
            </a:extLst>
          </p:cNvPr>
          <p:cNvSpPr txBox="1"/>
          <p:nvPr/>
        </p:nvSpPr>
        <p:spPr>
          <a:xfrm>
            <a:off x="158530" y="909744"/>
            <a:ext cx="8774688" cy="2616101"/>
          </a:xfrm>
          <a:prstGeom prst="rect">
            <a:avLst/>
          </a:prstGeom>
          <a:noFill/>
        </p:spPr>
        <p:txBody>
          <a:bodyPr wrap="square" lIns="91440" tIns="45720" rIns="91440" bIns="45720" anchor="t">
            <a:spAutoFit/>
          </a:bodyPr>
          <a:lstStyle/>
          <a:p>
            <a:pPr algn="ctr"/>
            <a:r>
              <a:rPr lang="en-US" sz="2800" b="1">
                <a:latin typeface="Calibri"/>
                <a:ea typeface="ＭＳ Ｐゴシック"/>
              </a:rPr>
              <a:t>Feature Selection &amp; Engineering</a:t>
            </a:r>
            <a:endParaRPr lang="en-US"/>
          </a:p>
          <a:p>
            <a:pPr algn="ctr"/>
            <a:endParaRPr lang="en-US" sz="2800">
              <a:latin typeface="+mn-lt"/>
              <a:cs typeface="Arial" panose="020B0604020202020204" pitchFamily="34" charset="0"/>
            </a:endParaRPr>
          </a:p>
          <a:p>
            <a:r>
              <a:rPr lang="en-US" sz="1800">
                <a:latin typeface="Calibri"/>
                <a:ea typeface="Calibri"/>
                <a:cs typeface="Calibri"/>
              </a:rPr>
              <a:t>Oil production data often contains highly collinear well log curves (like Gamma Ray and Resistivity), which can confuse tree-based models and dilute feature importance. Instead of using all available logs, we employed a Mutual Information (MI) approach to capture non-linear dependencies between geological features and the production target. This method allowed us to retain only the features that provided unique, additive information while discarding redundant signals, resulting in a more robust and interpretable model.</a:t>
            </a:r>
            <a:endParaRPr lang="en-US" sz="1800">
              <a:latin typeface="Calibri"/>
            </a:endParaRPr>
          </a:p>
        </p:txBody>
      </p:sp>
      <p:pic>
        <p:nvPicPr>
          <p:cNvPr id="5" name="Picture 4" descr="A graph with blue bars&#10;&#10;AI-generated content may be incorrect.">
            <a:extLst>
              <a:ext uri="{FF2B5EF4-FFF2-40B4-BE49-F238E27FC236}">
                <a16:creationId xmlns:a16="http://schemas.microsoft.com/office/drawing/2014/main" id="{275752AD-ADCD-AA08-ED41-B1E0311431C8}"/>
              </a:ext>
            </a:extLst>
          </p:cNvPr>
          <p:cNvPicPr>
            <a:picLocks noChangeAspect="1"/>
          </p:cNvPicPr>
          <p:nvPr/>
        </p:nvPicPr>
        <p:blipFill>
          <a:blip r:embed="rId2"/>
          <a:stretch>
            <a:fillRect/>
          </a:stretch>
        </p:blipFill>
        <p:spPr>
          <a:xfrm>
            <a:off x="153129" y="3683013"/>
            <a:ext cx="8783053" cy="2904566"/>
          </a:xfrm>
          <a:prstGeom prst="rect">
            <a:avLst/>
          </a:prstGeom>
        </p:spPr>
      </p:pic>
    </p:spTree>
    <p:extLst>
      <p:ext uri="{BB962C8B-B14F-4D97-AF65-F5344CB8AC3E}">
        <p14:creationId xmlns:p14="http://schemas.microsoft.com/office/powerpoint/2010/main" val="1582192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07417-CAAB-E04E-1E57-1D58B2B6371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339BE24-5F33-0681-9AEF-3FAAC0E84AC3}"/>
              </a:ext>
            </a:extLst>
          </p:cNvPr>
          <p:cNvSpPr txBox="1"/>
          <p:nvPr/>
        </p:nvSpPr>
        <p:spPr>
          <a:xfrm>
            <a:off x="158530" y="909744"/>
            <a:ext cx="8774688" cy="4278094"/>
          </a:xfrm>
          <a:prstGeom prst="rect">
            <a:avLst/>
          </a:prstGeom>
          <a:noFill/>
        </p:spPr>
        <p:txBody>
          <a:bodyPr wrap="square" lIns="91440" tIns="45720" rIns="91440" bIns="45720" anchor="t">
            <a:spAutoFit/>
          </a:bodyPr>
          <a:lstStyle/>
          <a:p>
            <a:pPr algn="ctr"/>
            <a:r>
              <a:rPr lang="en-US" sz="2800" b="1">
                <a:latin typeface="Calibri"/>
                <a:ea typeface="ＭＳ Ｐゴシック"/>
              </a:rPr>
              <a:t>Critical Results and Learnings</a:t>
            </a:r>
            <a:endParaRPr lang="en-US"/>
          </a:p>
          <a:p>
            <a:pPr algn="ctr"/>
            <a:endParaRPr lang="en-US" sz="2800">
              <a:latin typeface="+mn-lt"/>
              <a:cs typeface="Arial" panose="020B0604020202020204" pitchFamily="34" charset="0"/>
            </a:endParaRPr>
          </a:p>
          <a:p>
            <a:pPr marL="342900" indent="-342900">
              <a:buFont typeface="Calibri"/>
              <a:buChar char="-"/>
            </a:pPr>
            <a:r>
              <a:rPr lang="en-US">
                <a:latin typeface="Calibri"/>
                <a:ea typeface="Calibri"/>
                <a:cs typeface="Calibri"/>
              </a:rPr>
              <a:t>Our exploratory analysis revealed distinct temporal clustering in drilling campaigns, necessitating time-aware validation splits to prevent historical bias from skewing predictions for modern wells.</a:t>
            </a:r>
            <a:endParaRPr lang="en-US">
              <a:cs typeface="Calibri"/>
            </a:endParaRPr>
          </a:p>
          <a:p>
            <a:pPr marL="342900" indent="-342900">
              <a:buFont typeface="Calibri"/>
              <a:buChar char="-"/>
            </a:pPr>
            <a:r>
              <a:rPr lang="en-US">
                <a:latin typeface="Calibri"/>
                <a:ea typeface="Calibri"/>
                <a:cs typeface="Calibri"/>
              </a:rPr>
              <a:t>Simultaneously, we found that raw seismic data suffered from high variance that obscured geological signals. </a:t>
            </a:r>
            <a:endParaRPr lang="en-US">
              <a:cs typeface="Calibri"/>
            </a:endParaRPr>
          </a:p>
          <a:p>
            <a:pPr marL="342900" indent="-342900">
              <a:buFont typeface="Calibri"/>
              <a:buChar char="-"/>
            </a:pPr>
            <a:r>
              <a:rPr lang="en-US">
                <a:latin typeface="Calibri"/>
                <a:ea typeface="Calibri"/>
                <a:cs typeface="Calibri"/>
              </a:rPr>
              <a:t>By implementing a combined median-Gaussian denoising filter, we successfully improved the signal-to-noise ratio, which forced the model to prioritize true geological drivers over measurement artifacts.</a:t>
            </a:r>
            <a:endParaRPr lang="en-US"/>
          </a:p>
        </p:txBody>
      </p:sp>
    </p:spTree>
    <p:extLst>
      <p:ext uri="{BB962C8B-B14F-4D97-AF65-F5344CB8AC3E}">
        <p14:creationId xmlns:p14="http://schemas.microsoft.com/office/powerpoint/2010/main" val="2305272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A4FFC-9F42-E732-5C96-334B41225AB5}"/>
            </a:ext>
          </a:extLst>
        </p:cNvPr>
        <p:cNvGrpSpPr/>
        <p:nvPr/>
      </p:nvGrpSpPr>
      <p:grpSpPr>
        <a:xfrm>
          <a:off x="0" y="0"/>
          <a:ext cx="0" cy="0"/>
          <a:chOff x="0" y="0"/>
          <a:chExt cx="0" cy="0"/>
        </a:xfrm>
      </p:grpSpPr>
      <p:pic>
        <p:nvPicPr>
          <p:cNvPr id="2" name="Picture 1" descr="A graph of a bar graph&#10;&#10;AI-generated content may be incorrect.">
            <a:extLst>
              <a:ext uri="{FF2B5EF4-FFF2-40B4-BE49-F238E27FC236}">
                <a16:creationId xmlns:a16="http://schemas.microsoft.com/office/drawing/2014/main" id="{A34D6528-DF93-72B0-A774-78A4696156CA}"/>
              </a:ext>
            </a:extLst>
          </p:cNvPr>
          <p:cNvPicPr>
            <a:picLocks noChangeAspect="1"/>
          </p:cNvPicPr>
          <p:nvPr/>
        </p:nvPicPr>
        <p:blipFill>
          <a:blip r:embed="rId2"/>
          <a:stretch>
            <a:fillRect/>
          </a:stretch>
        </p:blipFill>
        <p:spPr>
          <a:xfrm>
            <a:off x="743269" y="781620"/>
            <a:ext cx="7219950" cy="5819775"/>
          </a:xfrm>
          <a:prstGeom prst="rect">
            <a:avLst/>
          </a:prstGeom>
        </p:spPr>
      </p:pic>
    </p:spTree>
    <p:extLst>
      <p:ext uri="{BB962C8B-B14F-4D97-AF65-F5344CB8AC3E}">
        <p14:creationId xmlns:p14="http://schemas.microsoft.com/office/powerpoint/2010/main" val="2538934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3CAC856-1BBB-45BD-8E9F-47D8B49C9EFA}"/>
              </a:ext>
            </a:extLst>
          </p:cNvPr>
          <p:cNvSpPr txBox="1"/>
          <p:nvPr/>
        </p:nvSpPr>
        <p:spPr>
          <a:xfrm>
            <a:off x="914252" y="946183"/>
            <a:ext cx="7324078" cy="1446550"/>
          </a:xfrm>
          <a:prstGeom prst="rect">
            <a:avLst/>
          </a:prstGeom>
          <a:noFill/>
        </p:spPr>
        <p:txBody>
          <a:bodyPr wrap="square" lIns="91440" tIns="45720" rIns="91440" bIns="45720" anchor="t">
            <a:spAutoFit/>
          </a:bodyPr>
          <a:lstStyle/>
          <a:p>
            <a:pPr algn="ctr"/>
            <a:r>
              <a:rPr lang="en-US" sz="2800" b="1">
                <a:latin typeface="+mn-lt"/>
                <a:cs typeface="Arial" panose="020B0604020202020204" pitchFamily="34" charset="0"/>
              </a:rPr>
              <a:t>Results and Discussions</a:t>
            </a:r>
          </a:p>
          <a:p>
            <a:pPr algn="ctr"/>
            <a:endParaRPr lang="en-US" sz="2000" b="1">
              <a:latin typeface="+mn-lt"/>
              <a:cs typeface="Arial" panose="020B0604020202020204" pitchFamily="34" charset="0"/>
            </a:endParaRPr>
          </a:p>
          <a:p>
            <a:pPr algn="ctr"/>
            <a:endParaRPr lang="en-US" sz="2000" b="1">
              <a:latin typeface="+mn-lt"/>
              <a:cs typeface="Arial" panose="020B0604020202020204" pitchFamily="34" charset="0"/>
            </a:endParaRPr>
          </a:p>
          <a:p>
            <a:pPr algn="ctr"/>
            <a:endParaRPr lang="en-US" sz="2000" b="1">
              <a:highlight>
                <a:srgbClr val="FFFF00"/>
              </a:highlight>
              <a:latin typeface="+mn-lt"/>
              <a:cs typeface="Arial" panose="020B0604020202020204" pitchFamily="34" charset="0"/>
            </a:endParaRPr>
          </a:p>
        </p:txBody>
      </p:sp>
      <p:pic>
        <p:nvPicPr>
          <p:cNvPr id="2" name="Picture 1">
            <a:extLst>
              <a:ext uri="{FF2B5EF4-FFF2-40B4-BE49-F238E27FC236}">
                <a16:creationId xmlns:a16="http://schemas.microsoft.com/office/drawing/2014/main" id="{DADBC23D-3E49-1817-C5E9-82DF2B0AA9C0}"/>
              </a:ext>
            </a:extLst>
          </p:cNvPr>
          <p:cNvPicPr>
            <a:picLocks noChangeAspect="1"/>
          </p:cNvPicPr>
          <p:nvPr/>
        </p:nvPicPr>
        <p:blipFill>
          <a:blip r:embed="rId2"/>
          <a:stretch>
            <a:fillRect/>
          </a:stretch>
        </p:blipFill>
        <p:spPr>
          <a:xfrm>
            <a:off x="470325" y="1979171"/>
            <a:ext cx="7995531" cy="3380921"/>
          </a:xfrm>
          <a:prstGeom prst="rect">
            <a:avLst/>
          </a:prstGeom>
        </p:spPr>
      </p:pic>
    </p:spTree>
    <p:extLst>
      <p:ext uri="{BB962C8B-B14F-4D97-AF65-F5344CB8AC3E}">
        <p14:creationId xmlns:p14="http://schemas.microsoft.com/office/powerpoint/2010/main" val="2036120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582A7-AC0D-955F-AAF1-DBC18122090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B70F818-A4CE-5CE2-9EF2-268D3BCF65F0}"/>
              </a:ext>
            </a:extLst>
          </p:cNvPr>
          <p:cNvSpPr txBox="1"/>
          <p:nvPr/>
        </p:nvSpPr>
        <p:spPr>
          <a:xfrm>
            <a:off x="914252" y="946183"/>
            <a:ext cx="7324078" cy="1446550"/>
          </a:xfrm>
          <a:prstGeom prst="rect">
            <a:avLst/>
          </a:prstGeom>
          <a:noFill/>
        </p:spPr>
        <p:txBody>
          <a:bodyPr wrap="square" lIns="91440" tIns="45720" rIns="91440" bIns="45720" anchor="t">
            <a:spAutoFit/>
          </a:bodyPr>
          <a:lstStyle/>
          <a:p>
            <a:pPr algn="ctr"/>
            <a:r>
              <a:rPr lang="en-US" sz="2800" b="1">
                <a:latin typeface="+mn-lt"/>
                <a:cs typeface="Arial" panose="020B0604020202020204" pitchFamily="34" charset="0"/>
              </a:rPr>
              <a:t>Results and Discussions</a:t>
            </a:r>
          </a:p>
          <a:p>
            <a:pPr algn="ctr"/>
            <a:endParaRPr lang="en-US" sz="2000" b="1">
              <a:latin typeface="+mn-lt"/>
              <a:cs typeface="Arial" panose="020B0604020202020204" pitchFamily="34" charset="0"/>
            </a:endParaRPr>
          </a:p>
          <a:p>
            <a:pPr algn="ctr"/>
            <a:endParaRPr lang="en-US" sz="2000" b="1">
              <a:latin typeface="+mn-lt"/>
              <a:cs typeface="Arial" panose="020B0604020202020204" pitchFamily="34" charset="0"/>
            </a:endParaRPr>
          </a:p>
          <a:p>
            <a:pPr algn="ctr"/>
            <a:endParaRPr lang="en-US" sz="2000" b="1">
              <a:highlight>
                <a:srgbClr val="FFFF00"/>
              </a:highlight>
              <a:latin typeface="+mn-lt"/>
              <a:cs typeface="Arial" panose="020B0604020202020204" pitchFamily="34" charset="0"/>
            </a:endParaRPr>
          </a:p>
        </p:txBody>
      </p:sp>
      <p:pic>
        <p:nvPicPr>
          <p:cNvPr id="3" name="Picture 2" descr="A black screen with white numbers&#10;&#10;AI-generated content may be incorrect.">
            <a:extLst>
              <a:ext uri="{FF2B5EF4-FFF2-40B4-BE49-F238E27FC236}">
                <a16:creationId xmlns:a16="http://schemas.microsoft.com/office/drawing/2014/main" id="{ED3A132C-C2AB-9BE3-CFA8-6A821FAC1637}"/>
              </a:ext>
            </a:extLst>
          </p:cNvPr>
          <p:cNvPicPr>
            <a:picLocks noChangeAspect="1"/>
          </p:cNvPicPr>
          <p:nvPr/>
        </p:nvPicPr>
        <p:blipFill>
          <a:blip r:embed="rId2"/>
          <a:stretch>
            <a:fillRect/>
          </a:stretch>
        </p:blipFill>
        <p:spPr>
          <a:xfrm>
            <a:off x="306281" y="1817339"/>
            <a:ext cx="8531437" cy="3967093"/>
          </a:xfrm>
          <a:prstGeom prst="rect">
            <a:avLst/>
          </a:prstGeom>
        </p:spPr>
      </p:pic>
    </p:spTree>
    <p:extLst>
      <p:ext uri="{BB962C8B-B14F-4D97-AF65-F5344CB8AC3E}">
        <p14:creationId xmlns:p14="http://schemas.microsoft.com/office/powerpoint/2010/main" val="3762975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82EA2-9B0D-C074-6DE1-A1A2E6E759A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12D9BEA-59AD-8166-6CF5-FDCA9AF48A74}"/>
              </a:ext>
            </a:extLst>
          </p:cNvPr>
          <p:cNvSpPr txBox="1"/>
          <p:nvPr/>
        </p:nvSpPr>
        <p:spPr>
          <a:xfrm>
            <a:off x="914252" y="946183"/>
            <a:ext cx="7324078" cy="1446550"/>
          </a:xfrm>
          <a:prstGeom prst="rect">
            <a:avLst/>
          </a:prstGeom>
          <a:noFill/>
        </p:spPr>
        <p:txBody>
          <a:bodyPr wrap="square" lIns="91440" tIns="45720" rIns="91440" bIns="45720" anchor="t">
            <a:spAutoFit/>
          </a:bodyPr>
          <a:lstStyle/>
          <a:p>
            <a:pPr algn="ctr"/>
            <a:r>
              <a:rPr lang="en-US" sz="2800" b="1">
                <a:latin typeface="+mn-lt"/>
                <a:cs typeface="Arial" panose="020B0604020202020204" pitchFamily="34" charset="0"/>
              </a:rPr>
              <a:t>Results and Discussions</a:t>
            </a:r>
          </a:p>
          <a:p>
            <a:pPr algn="ctr"/>
            <a:endParaRPr lang="en-US" sz="2000" b="1">
              <a:latin typeface="+mn-lt"/>
              <a:cs typeface="Arial" panose="020B0604020202020204" pitchFamily="34" charset="0"/>
            </a:endParaRPr>
          </a:p>
          <a:p>
            <a:pPr algn="ctr"/>
            <a:endParaRPr lang="en-US" sz="2000" b="1">
              <a:latin typeface="+mn-lt"/>
              <a:cs typeface="Arial" panose="020B0604020202020204" pitchFamily="34" charset="0"/>
            </a:endParaRPr>
          </a:p>
          <a:p>
            <a:pPr algn="ctr"/>
            <a:endParaRPr lang="en-US" sz="2000" b="1">
              <a:highlight>
                <a:srgbClr val="FFFF00"/>
              </a:highlight>
              <a:latin typeface="+mn-lt"/>
              <a:cs typeface="Arial" panose="020B0604020202020204" pitchFamily="34" charset="0"/>
            </a:endParaRPr>
          </a:p>
        </p:txBody>
      </p:sp>
      <p:pic>
        <p:nvPicPr>
          <p:cNvPr id="2" name="Picture 1" descr="A screenshot of a graph&#10;&#10;AI-generated content may be incorrect.">
            <a:extLst>
              <a:ext uri="{FF2B5EF4-FFF2-40B4-BE49-F238E27FC236}">
                <a16:creationId xmlns:a16="http://schemas.microsoft.com/office/drawing/2014/main" id="{A0F90A38-AEAB-C2B0-73F1-1728859E484F}"/>
              </a:ext>
            </a:extLst>
          </p:cNvPr>
          <p:cNvPicPr>
            <a:picLocks noChangeAspect="1"/>
          </p:cNvPicPr>
          <p:nvPr/>
        </p:nvPicPr>
        <p:blipFill>
          <a:blip r:embed="rId2"/>
          <a:stretch>
            <a:fillRect/>
          </a:stretch>
        </p:blipFill>
        <p:spPr>
          <a:xfrm>
            <a:off x="1071904" y="1573669"/>
            <a:ext cx="7011130" cy="4968510"/>
          </a:xfrm>
          <a:prstGeom prst="rect">
            <a:avLst/>
          </a:prstGeom>
        </p:spPr>
      </p:pic>
    </p:spTree>
    <p:extLst>
      <p:ext uri="{BB962C8B-B14F-4D97-AF65-F5344CB8AC3E}">
        <p14:creationId xmlns:p14="http://schemas.microsoft.com/office/powerpoint/2010/main" val="1782338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3CAC856-1BBB-45BD-8E9F-47D8B49C9EFA}"/>
              </a:ext>
            </a:extLst>
          </p:cNvPr>
          <p:cNvSpPr txBox="1"/>
          <p:nvPr/>
        </p:nvSpPr>
        <p:spPr>
          <a:xfrm>
            <a:off x="506027" y="857928"/>
            <a:ext cx="8043169" cy="4524315"/>
          </a:xfrm>
          <a:prstGeom prst="rect">
            <a:avLst/>
          </a:prstGeom>
          <a:noFill/>
        </p:spPr>
        <p:txBody>
          <a:bodyPr wrap="square" lIns="91440" tIns="45720" rIns="91440" bIns="45720" anchor="t">
            <a:spAutoFit/>
          </a:bodyPr>
          <a:lstStyle/>
          <a:p>
            <a:pPr algn="ctr"/>
            <a:r>
              <a:rPr lang="en-US" sz="2800" b="1">
                <a:latin typeface="+mn-lt"/>
                <a:cs typeface="Arial" panose="020B0604020202020204" pitchFamily="34" charset="0"/>
              </a:rPr>
              <a:t>Feedback</a:t>
            </a:r>
          </a:p>
          <a:p>
            <a:pPr algn="ctr"/>
            <a:endParaRPr lang="en-US" sz="2000" b="1">
              <a:latin typeface="+mn-lt"/>
              <a:cs typeface="Arial" panose="020B0604020202020204" pitchFamily="34" charset="0"/>
            </a:endParaRPr>
          </a:p>
          <a:p>
            <a:pPr algn="ctr"/>
            <a:endParaRPr lang="en-US" sz="2000" b="1">
              <a:latin typeface="+mn-lt"/>
              <a:cs typeface="Arial" panose="020B0604020202020204" pitchFamily="34" charset="0"/>
            </a:endParaRPr>
          </a:p>
          <a:p>
            <a:pPr algn="ctr"/>
            <a:r>
              <a:rPr lang="en-US" sz="2000">
                <a:latin typeface="+mn-lt"/>
                <a:ea typeface="Calibri"/>
                <a:cs typeface="Calibri"/>
              </a:rPr>
              <a:t>Our team discovered that applying a hybrid filter to seismic images clears up noisy data, helping the model focus on real geological features rather than errors. We also found that drilling happens in specific time clusters, so we had to be careful with how we tested the model to avoid letting it "cheat" by learning from future trends. </a:t>
            </a:r>
            <a:endParaRPr lang="en-US">
              <a:cs typeface="Calibri"/>
            </a:endParaRPr>
          </a:p>
          <a:p>
            <a:pPr algn="ctr"/>
            <a:endParaRPr lang="en-US" sz="2000">
              <a:latin typeface="+mn-lt"/>
              <a:ea typeface="Calibri"/>
              <a:cs typeface="Calibri"/>
            </a:endParaRPr>
          </a:p>
          <a:p>
            <a:pPr algn="ctr"/>
            <a:r>
              <a:rPr lang="en-US" sz="2000">
                <a:latin typeface="+mn-lt"/>
                <a:ea typeface="Calibri"/>
                <a:cs typeface="Calibri"/>
              </a:rPr>
              <a:t>We enjoyed the challenge of combining picture-based seismic data with standard spreadsheets, but next year we want to use better statistical methods to predict a range of possible outcomes instead of just a single number.</a:t>
            </a:r>
            <a:endParaRPr lang="en-US"/>
          </a:p>
          <a:p>
            <a:pPr algn="ctr"/>
            <a:endParaRPr lang="en-US" sz="2000" b="1">
              <a:latin typeface="+mn-lt"/>
              <a:cs typeface="Arial" panose="020B0604020202020204" pitchFamily="34" charset="0"/>
            </a:endParaRPr>
          </a:p>
        </p:txBody>
      </p:sp>
    </p:spTree>
    <p:extLst>
      <p:ext uri="{BB962C8B-B14F-4D97-AF65-F5344CB8AC3E}">
        <p14:creationId xmlns:p14="http://schemas.microsoft.com/office/powerpoint/2010/main" val="2099159860"/>
      </p:ext>
    </p:extLst>
  </p:cSld>
  <p:clrMapOvr>
    <a:masterClrMapping/>
  </p:clrMapOvr>
</p:sld>
</file>

<file path=ppt/theme/theme1.xml><?xml version="1.0" encoding="utf-8"?>
<a:theme xmlns:a="http://schemas.openxmlformats.org/drawingml/2006/main" name="PGE PPT Presentation">
  <a:themeElements>
    <a:clrScheme name="Custom 5">
      <a:dk1>
        <a:srgbClr val="000000"/>
      </a:dk1>
      <a:lt1>
        <a:srgbClr val="FFFFFF"/>
      </a:lt1>
      <a:dk2>
        <a:srgbClr val="3A3E40"/>
      </a:dk2>
      <a:lt2>
        <a:srgbClr val="595A5B"/>
      </a:lt2>
      <a:accent1>
        <a:srgbClr val="F2A900"/>
      </a:accent1>
      <a:accent2>
        <a:srgbClr val="BF5700"/>
      </a:accent2>
      <a:accent3>
        <a:srgbClr val="005E86"/>
      </a:accent3>
      <a:accent4>
        <a:srgbClr val="43695B"/>
      </a:accent4>
      <a:accent5>
        <a:srgbClr val="333F48"/>
      </a:accent5>
      <a:accent6>
        <a:srgbClr val="C1B688"/>
      </a:accent6>
      <a:hlink>
        <a:srgbClr val="003E5C"/>
      </a:hlink>
      <a:folHlink>
        <a:srgbClr val="787A7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PGE PPT Presentation</Template>
  <Application>Microsoft Office PowerPoint</Application>
  <PresentationFormat>On-screen Show (4:3)</PresentationFormat>
  <Slides>12</Slides>
  <Notes>0</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PGE PPT Presentation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Goes Here and Can Take Two or More Lines</dc:title>
  <dc:creator>Microsoft Office User</dc:creator>
  <cp:revision>2</cp:revision>
  <dcterms:created xsi:type="dcterms:W3CDTF">2017-10-04T14:25:29Z</dcterms:created>
  <dcterms:modified xsi:type="dcterms:W3CDTF">2026-02-01T16:38:13Z</dcterms:modified>
</cp:coreProperties>
</file>